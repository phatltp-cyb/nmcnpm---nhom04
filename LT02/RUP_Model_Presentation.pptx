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c5454f21c8a40c8" /><Relationship Type="http://schemas.openxmlformats.org/package/2006/relationships/metadata/core-properties" Target="/docProps/core.xml" Id="R917b94721e304ecf" /><Relationship Type="http://schemas.openxmlformats.org/officeDocument/2006/relationships/extended-properties" Target="/docProps/app.xml" Id="Ra039ff97be234ee6" /><Relationship Type="http://schemas.openxmlformats.org/officeDocument/2006/relationships/custom-properties" Target="/docProps/custom.xml" Id="R2b1b168321894a8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5be18fae4824b7c"/>
  </p:notesMasterIdLst>
  <p:sldIdLst>
    <p:sldId id="256" r:id="Reab67ec8b1e5439a"/>
    <p:sldId id="257" r:id="R30e4edfb72334f00"/>
    <p:sldId id="258" r:id="R43cb9091d28c43c1"/>
    <p:sldId id="259" r:id="R2b9e516ffb0843d6"/>
    <p:sldId id="260" r:id="R638d4c783ca54f07"/>
    <p:sldId id="261" r:id="Raffa7c81afaf4b0b"/>
    <p:sldId id="262" r:id="R594bb4493a844175"/>
    <p:sldId id="263" r:id="Rad08bea37a21473d"/>
    <p:sldId id="264" r:id="R803b0c976a8d4ae8"/>
    <p:sldId id="265" r:id="R4db17b7819ad4a6a"/>
    <p:sldId id="266" r:id="Rd68f5713df7d4f9d"/>
    <p:sldId id="267" r:id="R5af9296a82604f49"/>
    <p:sldId id="268" r:id="R357988986f9f4bec"/>
    <p:sldId id="269" r:id="R1769e030a2c94be6"/>
    <p:sldId id="270" r:id="R5541902b7db444b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ab67ec8b1e5439a" /><Relationship Type="http://schemas.openxmlformats.org/officeDocument/2006/relationships/slide" Target="/ppt/slides/slide2.xml" Id="R30e4edfb72334f00" /><Relationship Type="http://schemas.openxmlformats.org/officeDocument/2006/relationships/notesMaster" Target="/ppt/notesMasters/notesMaster1.xml" Id="Ra5be18fae4824b7c" /><Relationship Type="http://schemas.openxmlformats.org/officeDocument/2006/relationships/slide" Target="/ppt/slides/slide3.xml" Id="R43cb9091d28c43c1" /><Relationship Type="http://schemas.openxmlformats.org/officeDocument/2006/relationships/slide" Target="/ppt/slides/slide4.xml" Id="R2b9e516ffb0843d6" /><Relationship Type="http://schemas.openxmlformats.org/officeDocument/2006/relationships/slide" Target="/ppt/slides/slide5.xml" Id="R638d4c783ca54f07" /><Relationship Type="http://schemas.openxmlformats.org/officeDocument/2006/relationships/slide" Target="/ppt/slides/slide6.xml" Id="Raffa7c81afaf4b0b" /><Relationship Type="http://schemas.openxmlformats.org/officeDocument/2006/relationships/slide" Target="/ppt/slides/slide7.xml" Id="R594bb4493a844175" /><Relationship Type="http://schemas.openxmlformats.org/officeDocument/2006/relationships/slide" Target="/ppt/slides/slide8.xml" Id="Rad08bea37a21473d" /><Relationship Type="http://schemas.openxmlformats.org/officeDocument/2006/relationships/slide" Target="/ppt/slides/slide9.xml" Id="R803b0c976a8d4ae8" /><Relationship Type="http://schemas.openxmlformats.org/officeDocument/2006/relationships/slide" Target="/ppt/slides/slide10.xml" Id="R4db17b7819ad4a6a" /><Relationship Type="http://schemas.openxmlformats.org/officeDocument/2006/relationships/slide" Target="/ppt/slides/slide11.xml" Id="Rd68f5713df7d4f9d" /><Relationship Type="http://schemas.openxmlformats.org/officeDocument/2006/relationships/slide" Target="/ppt/slides/slide12.xml" Id="R5af9296a82604f49" /><Relationship Type="http://schemas.openxmlformats.org/officeDocument/2006/relationships/slide" Target="/ppt/slides/slide13.xml" Id="R357988986f9f4bec" /><Relationship Type="http://schemas.openxmlformats.org/officeDocument/2006/relationships/slide" Target="/ppt/slides/slide14.xml" Id="R1769e030a2c94be6" /><Relationship Type="http://schemas.openxmlformats.org/officeDocument/2006/relationships/slide" Target="/ppt/slides/slide15.xml" Id="R5541902b7db4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bd244992dd4b0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dfa6d2af864b5a" /><Relationship Type="http://schemas.openxmlformats.org/officeDocument/2006/relationships/slide" Target="/ppt/slides/slide2.xml" Id="Rfdb72f0b69ee4e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46d0b66ecd406f" /><Relationship Type="http://schemas.openxmlformats.org/officeDocument/2006/relationships/slide" Target="/ppt/slides/slide3.xml" Id="R7d541f44ec2b48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RUP duoc de xuat boi Rational Software, 3 tac gia chinh la Three Amigos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Bang the hien muc do no luc cua tung discipline qua tung pha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cfc01500946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c344e888948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ea38fbcb84f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77211899c41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3ff97c8db4db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4376fdd4252492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2755593c6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9b29f6664580" /><Relationship Type="http://schemas.openxmlformats.org/officeDocument/2006/relationships/notesSlide" Target="/ppt/notesSlides/notesSlide1.xml" Id="R2c47ec95af804f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7e2915beb4c53" /><Relationship Type="http://schemas.openxmlformats.org/officeDocument/2006/relationships/notesSlide" Target="/ppt/notesSlides/notesSlide2.xml" Id="R7f9155cc884e45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d5b1b3df3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659aff59d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2509e9d1343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7c8f42f03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057ad846f42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1c306072c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8d7dd7df94a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d0ad7c5b141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232cc81834b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22cb3b8045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d1f43a8f849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98e5cd5df42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5A82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720000" y="198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Mo Hinh Phat Trien Phan Mem RUP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306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1C7293"/>
                </a:solidFill>
                <a:latin typeface="Calibri"/>
                <a:ea typeface="Calibri"/>
              </a:rPr>
              <a:t>Rational Unified Process</a:t>
            </a:r>
          </a:p>
        </p:txBody>
      </p:sp>
      <p:sp>
        <p:nvSpPr>
          <p:cNvPr id="100002" name="Students"/>
          <p:cNvSpPr txBox="1"/>
          <p:nvPr/>
        </p:nvSpPr>
        <p:spPr>
          <a:xfrm xmlns:a="http://schemas.openxmlformats.org/drawingml/2006/main">
            <a:off x="720000" y="396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24120091 - Lam Duy Minh  |  24120089 - Ta Quang Manh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24120070 - Vuong Huu Khang  |  24120115 - Le Tan Phat</a:t>
            </a:r>
          </a:p>
        </p:txBody>
      </p:sp>
      <p:sp>
        <p:nvSpPr>
          <p:cNvPr id="100003" name="Instructor"/>
          <p:cNvSpPr txBox="1"/>
          <p:nvPr/>
        </p:nvSpPr>
        <p:spPr>
          <a:xfrm xmlns:a="http://schemas.openxmlformats.org/drawingml/2006/main">
            <a:off x="720000" y="486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GV: ThS. Ngo Ngoc Dang Khoa  |  TG: ThS. Ho Tuan Thanh</a:t>
            </a:r>
          </a:p>
        </p:txBody>
      </p:sp>
      <p:sp>
        <p:nvSpPr>
          <p:cNvPr id="100004" name="TopBand"/>
          <p:cNvSpPr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RUP La Gi?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540000" y="126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2B3A4E"/>
                </a:solidFill>
                <a:latin typeface="Calibri"/>
                <a:ea typeface="Calibri"/>
              </a:rPr>
              <a:t>RUP (Rational Unified Process) la quy trinh phat trien phan mem lap va tang dan, dua tren kien truc huong doi tuong va dieu khien boi Use-Case.</a:t>
            </a:r>
          </a:p>
        </p:txBody>
      </p:sp>
      <p:sp>
        <p:nvSpPr>
          <p:cNvPr id="100007" name="Card1Bg"/>
          <p:cNvSpPr/>
          <p:nvPr/>
        </p:nvSpPr>
        <p:spPr>
          <a:xfrm xmlns:a="http://schemas.openxmlformats.org/drawingml/2006/main">
            <a:off x="540000" y="2520000"/>
            <a:ext cx="342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Card1Title"/>
          <p:cNvSpPr txBox="1"/>
          <p:nvPr/>
        </p:nvSpPr>
        <p:spPr>
          <a:xfrm xmlns:a="http://schemas.openxmlformats.org/drawingml/2006/main">
            <a:off x="540000" y="2700000"/>
            <a:ext cx="34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Nam 1998</a:t>
            </a:r>
          </a:p>
        </p:txBody>
      </p:sp>
      <p:sp>
        <p:nvSpPr>
          <p:cNvPr id="100009" name="Card1Body"/>
          <p:cNvSpPr txBox="1"/>
          <p:nvPr/>
        </p:nvSpPr>
        <p:spPr>
          <a:xfrm xmlns:a="http://schemas.openxmlformats.org/drawingml/2006/main">
            <a:off x="540000" y="3240000"/>
            <a:ext cx="34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Rational Software phat hanh phien ban 1.0</a:t>
            </a:r>
          </a:p>
        </p:txBody>
      </p:sp>
      <p:sp>
        <p:nvSpPr>
          <p:cNvPr id="100010" name="Card2Bg"/>
          <p:cNvSpPr/>
          <p:nvPr/>
        </p:nvSpPr>
        <p:spPr>
          <a:xfrm xmlns:a="http://schemas.openxmlformats.org/drawingml/2006/main">
            <a:off x="4392000" y="2520000"/>
            <a:ext cx="342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Card2Title"/>
          <p:cNvSpPr txBox="1"/>
          <p:nvPr/>
        </p:nvSpPr>
        <p:spPr>
          <a:xfrm xmlns:a="http://schemas.openxmlformats.org/drawingml/2006/main">
            <a:off x="4392000" y="2700000"/>
            <a:ext cx="34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Three Amigos</a:t>
            </a:r>
          </a:p>
        </p:txBody>
      </p:sp>
      <p:sp>
        <p:nvSpPr>
          <p:cNvPr id="100012" name="Card2Body"/>
          <p:cNvSpPr txBox="1"/>
          <p:nvPr/>
        </p:nvSpPr>
        <p:spPr>
          <a:xfrm xmlns:a="http://schemas.openxmlformats.org/drawingml/2006/main">
            <a:off x="4392000" y="3240000"/>
            <a:ext cx="34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Grady Booch, James Rumbaugh, Ivar Jacobson</a:t>
            </a:r>
          </a:p>
        </p:txBody>
      </p:sp>
      <p:sp>
        <p:nvSpPr>
          <p:cNvPr id="100013" name="Card3Bg"/>
          <p:cNvSpPr/>
          <p:nvPr/>
        </p:nvSpPr>
        <p:spPr>
          <a:xfrm xmlns:a="http://schemas.openxmlformats.org/drawingml/2006/main">
            <a:off x="8233200" y="2520000"/>
            <a:ext cx="342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Card3Title"/>
          <p:cNvSpPr txBox="1"/>
          <p:nvPr/>
        </p:nvSpPr>
        <p:spPr>
          <a:xfrm xmlns:a="http://schemas.openxmlformats.org/drawingml/2006/main">
            <a:off x="8233200" y="2700000"/>
            <a:ext cx="34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IBM Rational</a:t>
            </a:r>
          </a:p>
        </p:txBody>
      </p:sp>
      <p:sp>
        <p:nvSpPr>
          <p:cNvPr id="100015" name="Card3Body"/>
          <p:cNvSpPr txBox="1"/>
          <p:nvPr/>
        </p:nvSpPr>
        <p:spPr>
          <a:xfrm xmlns:a="http://schemas.openxmlformats.org/drawingml/2006/main">
            <a:off x="8233200" y="3240000"/>
            <a:ext cx="34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IBM mua lai Rational Software nam 2003</a:t>
            </a:r>
          </a:p>
        </p:txBody>
      </p:sp>
      <p:sp>
        <p:nvSpPr>
          <p:cNvPr id="100016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7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Cau Truc 2 Chieu Cua RUP</a:t>
            </a:r>
          </a:p>
        </p:txBody>
      </p:sp>
      <p:graphicFrame>
        <p:nvGraphicFramePr>
          <p:cNvPr id="100018" name="Table 1"/>
          <p:cNvGraphicFramePr/>
          <p:nvPr/>
        </p:nvGraphicFramePr>
        <p:xfrm>
          <a:off xmlns:a="http://schemas.openxmlformats.org/drawingml/2006/main" x="540000" y="1260000"/>
          <a:ext xmlns:a="http://schemas.openxmlformats.org/drawingml/2006/main" cx="11160000" cy="50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2000"/>
                <a:gridCol w="2232000"/>
                <a:gridCol w="2232000"/>
                <a:gridCol w="2232000"/>
                <a:gridCol w="2232000"/>
              </a:tblGrid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Discipline</a:t>
                      </a:r>
                      <a:endParaRPr lang="en-US"/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Inception</a:t>
                      </a:r>
                      <a:endParaRPr lang="en-US"/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Elaboration</a:t>
                      </a:r>
                      <a:endParaRPr lang="en-US"/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Construction</a:t>
                      </a:r>
                      <a:endParaRPr lang="en-US"/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Transition</a:t>
                      </a:r>
                      <a:endParaRPr lang="en-US"/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Business Modeling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Requirements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Analysis &amp; Design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Implementation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Deployment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Config &amp; Change Mgmt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Project Management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/>
                        <a:t>Environment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Trung binh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Thap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9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6 Nguyen Tac Cot Loi</a:t>
            </a:r>
          </a:p>
        </p:txBody>
      </p:sp>
      <p:sp>
        <p:nvSpPr>
          <p:cNvPr id="100021" name="P1Bg"/>
          <p:cNvSpPr/>
          <p:nvPr/>
        </p:nvSpPr>
        <p:spPr>
          <a:xfrm xmlns:a="http://schemas.openxmlformats.org/drawingml/2006/main">
            <a:off x="540000" y="14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P1Num"/>
          <p:cNvSpPr txBox="1"/>
          <p:nvPr/>
        </p:nvSpPr>
        <p:spPr>
          <a:xfrm xmlns:a="http://schemas.openxmlformats.org/drawingml/2006/main">
            <a:off x="540000" y="15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23" name="P1Text"/>
          <p:cNvSpPr txBox="1"/>
          <p:nvPr/>
        </p:nvSpPr>
        <p:spPr>
          <a:xfrm xmlns:a="http://schemas.openxmlformats.org/drawingml/2006/main">
            <a:off x="540000" y="1944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Phat trien lap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(Iterative Development)</a:t>
            </a:r>
          </a:p>
        </p:txBody>
      </p:sp>
      <p:sp>
        <p:nvSpPr>
          <p:cNvPr id="100024" name="P2Bg"/>
          <p:cNvSpPr/>
          <p:nvPr/>
        </p:nvSpPr>
        <p:spPr>
          <a:xfrm xmlns:a="http://schemas.openxmlformats.org/drawingml/2006/main">
            <a:off x="4392000" y="14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P2Num"/>
          <p:cNvSpPr txBox="1"/>
          <p:nvPr/>
        </p:nvSpPr>
        <p:spPr>
          <a:xfrm xmlns:a="http://schemas.openxmlformats.org/drawingml/2006/main">
            <a:off x="4392000" y="15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026" name="P2Text"/>
          <p:cNvSpPr txBox="1"/>
          <p:nvPr/>
        </p:nvSpPr>
        <p:spPr>
          <a:xfrm xmlns:a="http://schemas.openxmlformats.org/drawingml/2006/main">
            <a:off x="4392000" y="1944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Quan ly yeu cau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(Manage Requirements)</a:t>
            </a:r>
          </a:p>
        </p:txBody>
      </p:sp>
      <p:sp>
        <p:nvSpPr>
          <p:cNvPr id="100027" name="P3Bg"/>
          <p:cNvSpPr/>
          <p:nvPr/>
        </p:nvSpPr>
        <p:spPr>
          <a:xfrm xmlns:a="http://schemas.openxmlformats.org/drawingml/2006/main">
            <a:off x="8233200" y="14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P3Num"/>
          <p:cNvSpPr txBox="1"/>
          <p:nvPr/>
        </p:nvSpPr>
        <p:spPr>
          <a:xfrm xmlns:a="http://schemas.openxmlformats.org/drawingml/2006/main">
            <a:off x="8233200" y="15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029" name="P3Text"/>
          <p:cNvSpPr txBox="1"/>
          <p:nvPr/>
        </p:nvSpPr>
        <p:spPr>
          <a:xfrm xmlns:a="http://schemas.openxmlformats.org/drawingml/2006/main">
            <a:off x="8233200" y="1944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Kien truc component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(Component-based)</a:t>
            </a:r>
          </a:p>
        </p:txBody>
      </p:sp>
      <p:sp>
        <p:nvSpPr>
          <p:cNvPr id="100030" name="P4Bg"/>
          <p:cNvSpPr/>
          <p:nvPr/>
        </p:nvSpPr>
        <p:spPr>
          <a:xfrm xmlns:a="http://schemas.openxmlformats.org/drawingml/2006/main">
            <a:off x="540000" y="32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P4Num"/>
          <p:cNvSpPr txBox="1"/>
          <p:nvPr/>
        </p:nvSpPr>
        <p:spPr>
          <a:xfrm xmlns:a="http://schemas.openxmlformats.org/drawingml/2006/main">
            <a:off x="540000" y="33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0032" name="P4Text"/>
          <p:cNvSpPr txBox="1"/>
          <p:nvPr/>
        </p:nvSpPr>
        <p:spPr>
          <a:xfrm xmlns:a="http://schemas.openxmlformats.org/drawingml/2006/main">
            <a:off x="540000" y="3744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Mo hinh hoa truc quan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(Visual Modeling - UML)</a:t>
            </a:r>
          </a:p>
        </p:txBody>
      </p:sp>
      <p:sp>
        <p:nvSpPr>
          <p:cNvPr id="100033" name="P5Bg"/>
          <p:cNvSpPr/>
          <p:nvPr/>
        </p:nvSpPr>
        <p:spPr>
          <a:xfrm xmlns:a="http://schemas.openxmlformats.org/drawingml/2006/main">
            <a:off x="4392000" y="32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P5Num"/>
          <p:cNvSpPr txBox="1"/>
          <p:nvPr/>
        </p:nvSpPr>
        <p:spPr>
          <a:xfrm xmlns:a="http://schemas.openxmlformats.org/drawingml/2006/main">
            <a:off x="4392000" y="33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100035" name="P5Text"/>
          <p:cNvSpPr txBox="1"/>
          <p:nvPr/>
        </p:nvSpPr>
        <p:spPr>
          <a:xfrm xmlns:a="http://schemas.openxmlformats.org/drawingml/2006/main">
            <a:off x="4392000" y="3744000"/>
            <a:ext cx="3420000" cy="8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Kiem tra chat luong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(Continuously Verify Quality)</a:t>
            </a:r>
          </a:p>
        </p:txBody>
      </p:sp>
      <p:sp>
        <p:nvSpPr>
          <p:cNvPr id="100036" name="P6Bg"/>
          <p:cNvSpPr/>
          <p:nvPr/>
        </p:nvSpPr>
        <p:spPr>
          <a:xfrm xmlns:a="http://schemas.openxmlformats.org/drawingml/2006/main">
            <a:off x="8233200" y="3240000"/>
            <a:ext cx="342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P6Num"/>
          <p:cNvSpPr txBox="1"/>
          <p:nvPr/>
        </p:nvSpPr>
        <p:spPr>
          <a:xfrm xmlns:a="http://schemas.openxmlformats.org/drawingml/2006/main">
            <a:off x="8233200" y="3312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65A82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100038" name="P6Text"/>
          <p:cNvSpPr txBox="1"/>
          <p:nvPr/>
        </p:nvSpPr>
        <p:spPr>
          <a:xfrm xmlns:a="http://schemas.openxmlformats.org/drawingml/2006/main">
            <a:off x="8233200" y="3744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Quan ly thay doi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(Control Changes)</a:t>
            </a:r>
          </a:p>
        </p:txBody>
      </p:sp>
      <p:sp>
        <p:nvSpPr>
          <p:cNvPr id="100039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5A82"/>
        </a:solidFill>
      </p:bgPr>
    </p:bg>
    <p:spTree>
      <p:nvGrpSpPr>
        <p:cNvPr id="1" name=""/>
        <p:cNvGrpSpPr/>
        <p:nvPr/>
      </p:nvGrpSpPr>
      <p:grpSpPr/>
      <p:sp>
        <p:nvSpPr>
          <p:cNvPr id="100040" name="BigNum"/>
          <p:cNvSpPr txBox="1"/>
          <p:nvPr/>
        </p:nvSpPr>
        <p:spPr>
          <a:xfrm xmlns:a="http://schemas.openxmlformats.org/drawingml/2006/main">
            <a:off x="360000" y="720000"/>
            <a:ext cx="36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0" b="1">
                <a:solidFill>
                  <a:srgbClr val="FFFFFF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100041" name="Title"/>
          <p:cNvSpPr txBox="1"/>
          <p:nvPr/>
        </p:nvSpPr>
        <p:spPr>
          <a:xfrm xmlns:a="http://schemas.openxmlformats.org/drawingml/2006/main">
            <a:off x="720000" y="216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4 Pha Cua RUP</a:t>
            </a:r>
          </a:p>
        </p:txBody>
      </p:sp>
      <p:sp>
        <p:nvSpPr>
          <p:cNvPr id="100042" name="Sub"/>
          <p:cNvSpPr txBox="1"/>
          <p:nvPr/>
        </p:nvSpPr>
        <p:spPr>
          <a:xfrm xmlns:a="http://schemas.openxmlformats.org/drawingml/2006/main">
            <a:off x="720000" y="360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1C7293"/>
                </a:solidFill>
                <a:latin typeface="Calibri"/>
                <a:ea typeface="Calibri"/>
              </a:rPr>
              <a:t>Inception  -  Elaboration  -  Construction  -  Transition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3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Pha 1: Inception (Khoi Dau)</a:t>
            </a:r>
          </a:p>
        </p:txBody>
      </p:sp>
      <p:sp>
        <p:nvSpPr>
          <p:cNvPr id="100044" name="What"/>
          <p:cNvSpPr txBox="1"/>
          <p:nvPr/>
        </p:nvSpPr>
        <p:spPr>
          <a:xfrm xmlns:a="http://schemas.openxmlformats.org/drawingml/2006/main">
            <a:off x="540000" y="1260000"/>
            <a:ext cx="72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WHAT: Xac dinh tam nhin, pham vi, Business Case, Use-Case chinh (10-20%), danh gia rui ro, uoc luong chi phi</a:t>
            </a:r>
          </a:p>
        </p:txBody>
      </p:sp>
      <p:sp>
        <p:nvSpPr>
          <p:cNvPr id="100045" name="Who"/>
          <p:cNvSpPr txBox="1"/>
          <p:nvPr/>
        </p:nvSpPr>
        <p:spPr>
          <a:xfrm xmlns:a="http://schemas.openxmlformats.org/drawingml/2006/main">
            <a:off x="540000" y="2340000"/>
            <a:ext cx="720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WHO: Project Manager, Business Analyst, System Analyst, Architect, Stakeholders</a:t>
            </a:r>
          </a:p>
        </p:txBody>
      </p:sp>
      <p:sp>
        <p:nvSpPr>
          <p:cNvPr id="100046" name="IO"/>
          <p:cNvSpPr txBox="1"/>
          <p:nvPr/>
        </p:nvSpPr>
        <p:spPr>
          <a:xfrm xmlns:a="http://schemas.openxmlformats.org/drawingml/2006/main">
            <a:off x="540000" y="306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INPUT: Y tuong kinh doanh, nghien cuu thi truong</a:t>
            </a:r>
          </a:p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OUTPUT: Vision Document, Use-Case Model, Business Case, Risk List</a:t>
            </a:r>
          </a:p>
        </p:txBody>
      </p:sp>
      <p:sp>
        <p:nvSpPr>
          <p:cNvPr id="100047" name="MsBg"/>
          <p:cNvSpPr/>
          <p:nvPr/>
        </p:nvSpPr>
        <p:spPr>
          <a:xfrm xmlns:a="http://schemas.openxmlformats.org/drawingml/2006/main">
            <a:off x="8280000" y="1440000"/>
            <a:ext cx="33732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MsTitle"/>
          <p:cNvSpPr txBox="1"/>
          <p:nvPr/>
        </p:nvSpPr>
        <p:spPr>
          <a:xfrm xmlns:a="http://schemas.openxmlformats.org/drawingml/2006/main">
            <a:off x="8280000" y="1620000"/>
            <a:ext cx="337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Georgia"/>
                <a:ea typeface="Georgia"/>
              </a:rPr>
              <a:t>Milestone</a:t>
            </a:r>
          </a:p>
        </p:txBody>
      </p:sp>
      <p:sp>
        <p:nvSpPr>
          <p:cNvPr id="100049" name="MsBody"/>
          <p:cNvSpPr txBox="1"/>
          <p:nvPr/>
        </p:nvSpPr>
        <p:spPr>
          <a:xfrm xmlns:a="http://schemas.openxmlformats.org/drawingml/2006/main">
            <a:off x="8280000" y="2340000"/>
            <a:ext cx="337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Lifecycle Objective (LCO)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Go / No-Go</a:t>
            </a:r>
          </a:p>
        </p:txBody>
      </p:sp>
      <p:sp>
        <p:nvSpPr>
          <p:cNvPr id="100050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1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Pha 2: Elaboration (Chi Tiet Hoa)</a:t>
            </a:r>
          </a:p>
        </p:txBody>
      </p:sp>
      <p:sp>
        <p:nvSpPr>
          <p:cNvPr id="100052" name="What"/>
          <p:cNvSpPr txBox="1"/>
          <p:nvPr/>
        </p:nvSpPr>
        <p:spPr>
          <a:xfrm xmlns:a="http://schemas.openxmlformats.org/drawingml/2006/main">
            <a:off x="540000" y="1260000"/>
            <a:ext cx="72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WHAT: Hoan thien 80% use-case, thiet ke kien truc phan mem, xay dung Architectural Prototype, giam thieu rui ro chinh</a:t>
            </a:r>
          </a:p>
        </p:txBody>
      </p:sp>
      <p:sp>
        <p:nvSpPr>
          <p:cNvPr id="100053" name="Who"/>
          <p:cNvSpPr txBox="1"/>
          <p:nvPr/>
        </p:nvSpPr>
        <p:spPr>
          <a:xfrm xmlns:a="http://schemas.openxmlformats.org/drawingml/2006/main">
            <a:off x="540000" y="2340000"/>
            <a:ext cx="720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WHO: Software Architect, System Analyst, DB Designer, UI/UX Designer, Senior Developer</a:t>
            </a:r>
          </a:p>
        </p:txBody>
      </p:sp>
      <p:sp>
        <p:nvSpPr>
          <p:cNvPr id="100054" name="IO"/>
          <p:cNvSpPr txBox="1"/>
          <p:nvPr/>
        </p:nvSpPr>
        <p:spPr>
          <a:xfrm xmlns:a="http://schemas.openxmlformats.org/drawingml/2006/main">
            <a:off x="540000" y="306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INPUT: Vision Document, Use-Case Model so bo, Risk List</a:t>
            </a:r>
          </a:p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OUTPUT: SAD, Design Model, Data Model, Architectural Prototype</a:t>
            </a:r>
          </a:p>
        </p:txBody>
      </p:sp>
      <p:sp>
        <p:nvSpPr>
          <p:cNvPr id="100055" name="MsBg"/>
          <p:cNvSpPr/>
          <p:nvPr/>
        </p:nvSpPr>
        <p:spPr>
          <a:xfrm xmlns:a="http://schemas.openxmlformats.org/drawingml/2006/main">
            <a:off x="8280000" y="1440000"/>
            <a:ext cx="33732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MsTitle"/>
          <p:cNvSpPr txBox="1"/>
          <p:nvPr/>
        </p:nvSpPr>
        <p:spPr>
          <a:xfrm xmlns:a="http://schemas.openxmlformats.org/drawingml/2006/main">
            <a:off x="8280000" y="1620000"/>
            <a:ext cx="337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Georgia"/>
                <a:ea typeface="Georgia"/>
              </a:rPr>
              <a:t>Milestone</a:t>
            </a:r>
          </a:p>
        </p:txBody>
      </p:sp>
      <p:sp>
        <p:nvSpPr>
          <p:cNvPr id="100057" name="MsBody"/>
          <p:cNvSpPr txBox="1"/>
          <p:nvPr/>
        </p:nvSpPr>
        <p:spPr>
          <a:xfrm xmlns:a="http://schemas.openxmlformats.org/drawingml/2006/main">
            <a:off x="8280000" y="2340000"/>
            <a:ext cx="337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Lifecycle Architecture (LCA)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Kien truc on dinh</a:t>
            </a:r>
          </a:p>
        </p:txBody>
      </p:sp>
      <p:sp>
        <p:nvSpPr>
          <p:cNvPr id="100058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9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Pha 3: Construction (Xay Dung)</a:t>
            </a:r>
          </a:p>
        </p:txBody>
      </p:sp>
      <p:sp>
        <p:nvSpPr>
          <p:cNvPr id="100060" name="What"/>
          <p:cNvSpPr txBox="1"/>
          <p:nvPr/>
        </p:nvSpPr>
        <p:spPr>
          <a:xfrm xmlns:a="http://schemas.openxmlformats.org/drawingml/2006/main">
            <a:off x="540000" y="1260000"/>
            <a:ext cx="72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WHAT: Phat trien toan bo chuc nang, tich hop module, Unit Test, Integration Test, System Test, viet tai lieu</a:t>
            </a:r>
          </a:p>
        </p:txBody>
      </p:sp>
      <p:sp>
        <p:nvSpPr>
          <p:cNvPr id="100061" name="Who"/>
          <p:cNvSpPr txBox="1"/>
          <p:nvPr/>
        </p:nvSpPr>
        <p:spPr>
          <a:xfrm xmlns:a="http://schemas.openxmlformats.org/drawingml/2006/main">
            <a:off x="540000" y="2340000"/>
            <a:ext cx="720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WHO: Developers, Testers/QA, Technical Writer, DBA, Project Manager, UI Developer</a:t>
            </a:r>
          </a:p>
        </p:txBody>
      </p:sp>
      <p:sp>
        <p:nvSpPr>
          <p:cNvPr id="100062" name="IO"/>
          <p:cNvSpPr txBox="1"/>
          <p:nvPr/>
        </p:nvSpPr>
        <p:spPr>
          <a:xfrm xmlns:a="http://schemas.openxmlformats.org/drawingml/2006/main">
            <a:off x="540000" y="306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INPUT: SAD, Design Model, Data Model, Coding Standards</a:t>
            </a:r>
          </a:p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OUTPUT: Source Code, Beta Release, Test Reports, User Manual</a:t>
            </a:r>
          </a:p>
        </p:txBody>
      </p:sp>
      <p:sp>
        <p:nvSpPr>
          <p:cNvPr id="100063" name="MsBg"/>
          <p:cNvSpPr/>
          <p:nvPr/>
        </p:nvSpPr>
        <p:spPr>
          <a:xfrm xmlns:a="http://schemas.openxmlformats.org/drawingml/2006/main">
            <a:off x="8280000" y="1440000"/>
            <a:ext cx="33732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MsTitle"/>
          <p:cNvSpPr txBox="1"/>
          <p:nvPr/>
        </p:nvSpPr>
        <p:spPr>
          <a:xfrm xmlns:a="http://schemas.openxmlformats.org/drawingml/2006/main">
            <a:off x="8280000" y="1620000"/>
            <a:ext cx="337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Georgia"/>
                <a:ea typeface="Georgia"/>
              </a:rPr>
              <a:t>Milestone</a:t>
            </a:r>
          </a:p>
        </p:txBody>
      </p:sp>
      <p:sp>
        <p:nvSpPr>
          <p:cNvPr id="100065" name="MsBody"/>
          <p:cNvSpPr txBox="1"/>
          <p:nvPr/>
        </p:nvSpPr>
        <p:spPr>
          <a:xfrm xmlns:a="http://schemas.openxmlformats.org/drawingml/2006/main">
            <a:off x="8280000" y="2340000"/>
            <a:ext cx="337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Initial Operational Capability (IOC)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San sang beta testing</a:t>
            </a:r>
          </a:p>
        </p:txBody>
      </p:sp>
      <p:sp>
        <p:nvSpPr>
          <p:cNvPr id="100066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7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Pha 4: Transition (Chuyen Giao)</a:t>
            </a:r>
          </a:p>
        </p:txBody>
      </p:sp>
      <p:sp>
        <p:nvSpPr>
          <p:cNvPr id="100068" name="What"/>
          <p:cNvSpPr txBox="1"/>
          <p:nvPr/>
        </p:nvSpPr>
        <p:spPr>
          <a:xfrm xmlns:a="http://schemas.openxmlformats.org/drawingml/2006/main">
            <a:off x="540000" y="1260000"/>
            <a:ext cx="72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WHAT: Trien khai production, UAT, dao tao nguoi dung, data migration, sua loi, tinh chinh hieu nang, ban giao</a:t>
            </a:r>
          </a:p>
        </p:txBody>
      </p:sp>
      <p:sp>
        <p:nvSpPr>
          <p:cNvPr id="100069" name="Who"/>
          <p:cNvSpPr txBox="1"/>
          <p:nvPr/>
        </p:nvSpPr>
        <p:spPr>
          <a:xfrm xmlns:a="http://schemas.openxmlformats.org/drawingml/2006/main">
            <a:off x="540000" y="2340000"/>
            <a:ext cx="720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WHO: DevOps, Testers/QA, Trainer, Support Team, End Users, Project Manager</a:t>
            </a:r>
          </a:p>
        </p:txBody>
      </p:sp>
      <p:sp>
        <p:nvSpPr>
          <p:cNvPr id="100070" name="IO"/>
          <p:cNvSpPr txBox="1"/>
          <p:nvPr/>
        </p:nvSpPr>
        <p:spPr>
          <a:xfrm xmlns:a="http://schemas.openxmlformats.org/drawingml/2006/main">
            <a:off x="540000" y="3060000"/>
            <a:ext cx="7200000" cy="12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INPUT: Beta Release, User Manual, Deployment Plan, Training Material</a:t>
            </a:r>
          </a:p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OUTPUT: Production Release, UAT Sign-off, Training Records, Lessons Learned</a:t>
            </a:r>
          </a:p>
        </p:txBody>
      </p:sp>
      <p:sp>
        <p:nvSpPr>
          <p:cNvPr id="100071" name="MsBg"/>
          <p:cNvSpPr/>
          <p:nvPr/>
        </p:nvSpPr>
        <p:spPr>
          <a:xfrm xmlns:a="http://schemas.openxmlformats.org/drawingml/2006/main">
            <a:off x="8280000" y="1440000"/>
            <a:ext cx="33732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MsTitle"/>
          <p:cNvSpPr txBox="1"/>
          <p:nvPr/>
        </p:nvSpPr>
        <p:spPr>
          <a:xfrm xmlns:a="http://schemas.openxmlformats.org/drawingml/2006/main">
            <a:off x="8280000" y="1620000"/>
            <a:ext cx="337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Georgia"/>
                <a:ea typeface="Georgia"/>
              </a:rPr>
              <a:t>Milestone</a:t>
            </a:r>
          </a:p>
        </p:txBody>
      </p:sp>
      <p:sp>
        <p:nvSpPr>
          <p:cNvPr id="100073" name="MsBody"/>
          <p:cNvSpPr txBox="1"/>
          <p:nvPr/>
        </p:nvSpPr>
        <p:spPr>
          <a:xfrm xmlns:a="http://schemas.openxmlformats.org/drawingml/2006/main">
            <a:off x="8280000" y="2340000"/>
            <a:ext cx="337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Product Release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San pham van hanh chinh thuc</a:t>
            </a:r>
          </a:p>
        </p:txBody>
      </p:sp>
      <p:sp>
        <p:nvSpPr>
          <p:cNvPr id="100074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5A82"/>
        </a:solidFill>
      </p:bgPr>
    </p:bg>
    <p:spTree>
      <p:nvGrpSpPr>
        <p:cNvPr id="1" name=""/>
        <p:cNvGrpSpPr/>
        <p:nvPr/>
      </p:nvGrpSpPr>
      <p:grpSpPr/>
      <p:sp>
        <p:nvSpPr>
          <p:cNvPr id="100075" name="Title"/>
          <p:cNvSpPr txBox="1"/>
          <p:nvPr/>
        </p:nvSpPr>
        <p:spPr>
          <a:xfrm xmlns:a="http://schemas.openxmlformats.org/drawingml/2006/main">
            <a:off x="720000" y="216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Vi Du: Website E-Commerce ShopVN</a:t>
            </a:r>
          </a:p>
        </p:txBody>
      </p:sp>
      <p:sp>
        <p:nvSpPr>
          <p:cNvPr id="100076" name="Sub"/>
          <p:cNvSpPr txBox="1"/>
          <p:nvPr/>
        </p:nvSpPr>
        <p:spPr>
          <a:xfrm xmlns:a="http://schemas.openxmlformats.org/drawingml/2006/main">
            <a:off x="720000" y="360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1C7293"/>
                </a:solidFill>
                <a:latin typeface="Calibri"/>
                <a:ea typeface="Calibri"/>
              </a:rPr>
              <a:t>Ap dung RUP cho du an ban hang dien tu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7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ShopVN - Pha Inception</a:t>
            </a:r>
          </a:p>
        </p:txBody>
      </p:sp>
      <p:sp>
        <p:nvSpPr>
          <p:cNvPr id="100078" name="Vision"/>
          <p:cNvSpPr txBox="1"/>
          <p:nvPr/>
        </p:nvSpPr>
        <p:spPr>
          <a:xfrm xmlns:a="http://schemas.openxmlformats.org/drawingml/2006/main">
            <a:off x="540000" y="126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Tam nhin: Xay dung san e-commerce ban dien tu cho thi truong Viet Nam</a:t>
            </a:r>
          </a:p>
        </p:txBody>
      </p:sp>
      <p:sp>
        <p:nvSpPr>
          <p:cNvPr id="100079" name="Scope"/>
          <p:cNvSpPr txBox="1"/>
          <p:nvPr/>
        </p:nvSpPr>
        <p:spPr>
          <a:xfrm xmlns:a="http://schemas.openxmlformats.org/drawingml/2006/main">
            <a:off x="540000" y="1980000"/>
            <a:ext cx="1080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Pham vi: Quan ly san pham, gio hang, thanh toan online, don hang, tai khoan nguoi dung</a:t>
            </a:r>
          </a:p>
        </p:txBody>
      </p:sp>
      <p:sp>
        <p:nvSpPr>
          <p:cNvPr id="100080" name="Risk"/>
          <p:cNvSpPr txBox="1"/>
          <p:nvPr/>
        </p:nvSpPr>
        <p:spPr>
          <a:xfrm xmlns:a="http://schemas.openxmlformats.org/drawingml/2006/main">
            <a:off x="540000" y="270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Rui ro: Bao mat thanh toan (High), Hieu nang flash sale (Medium)</a:t>
            </a:r>
          </a:p>
        </p:txBody>
      </p:sp>
      <p:sp>
        <p:nvSpPr>
          <p:cNvPr id="100081" name="UC"/>
          <p:cNvSpPr txBox="1"/>
          <p:nvPr/>
        </p:nvSpPr>
        <p:spPr>
          <a:xfrm xmlns:a="http://schemas.openxmlformats.org/drawingml/2006/main">
            <a:off x="540000" y="342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Use-Case chinh: UC01 Dang ky/Dang nhap, UC02 Tim kiem, UC03 Gio hang, UC04 Thanh toan, UC05 Quan ly don hang</a:t>
            </a:r>
          </a:p>
        </p:txBody>
      </p:sp>
      <p:sp>
        <p:nvSpPr>
          <p:cNvPr id="100082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3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ShopVN - Pha Construction (6 Iterations)</a:t>
            </a:r>
          </a:p>
        </p:txBody>
      </p:sp>
      <p:sp>
        <p:nvSpPr>
          <p:cNvPr id="100084" name="I1Bg"/>
          <p:cNvSpPr/>
          <p:nvPr/>
        </p:nvSpPr>
        <p:spPr>
          <a:xfrm xmlns:a="http://schemas.openxmlformats.org/drawingml/2006/main">
            <a:off x="540000" y="144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I1T"/>
          <p:cNvSpPr txBox="1"/>
          <p:nvPr/>
        </p:nvSpPr>
        <p:spPr>
          <a:xfrm xmlns:a="http://schemas.openxmlformats.org/drawingml/2006/main">
            <a:off x="540000" y="154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1 (4 tuan)</a:t>
            </a:r>
          </a:p>
        </p:txBody>
      </p:sp>
      <p:sp>
        <p:nvSpPr>
          <p:cNvPr id="100086" name="I1B"/>
          <p:cNvSpPr txBox="1"/>
          <p:nvPr/>
        </p:nvSpPr>
        <p:spPr>
          <a:xfrm xmlns:a="http://schemas.openxmlformats.org/drawingml/2006/main">
            <a:off x="540000" y="1980000"/>
            <a:ext cx="3420000" cy="8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User Service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Dang ky, dang nhap, profile, phan quyen</a:t>
            </a:r>
          </a:p>
        </p:txBody>
      </p:sp>
      <p:sp>
        <p:nvSpPr>
          <p:cNvPr id="100087" name="I2Bg"/>
          <p:cNvSpPr/>
          <p:nvPr/>
        </p:nvSpPr>
        <p:spPr>
          <a:xfrm xmlns:a="http://schemas.openxmlformats.org/drawingml/2006/main">
            <a:off x="4392000" y="144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I2T"/>
          <p:cNvSpPr txBox="1"/>
          <p:nvPr/>
        </p:nvSpPr>
        <p:spPr>
          <a:xfrm xmlns:a="http://schemas.openxmlformats.org/drawingml/2006/main">
            <a:off x="4392000" y="154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2 (4 tuan)</a:t>
            </a:r>
          </a:p>
        </p:txBody>
      </p:sp>
      <p:sp>
        <p:nvSpPr>
          <p:cNvPr id="100089" name="I2B"/>
          <p:cNvSpPr txBox="1"/>
          <p:nvPr/>
        </p:nvSpPr>
        <p:spPr>
          <a:xfrm xmlns:a="http://schemas.openxmlformats.org/drawingml/2006/main">
            <a:off x="4392000" y="1980000"/>
            <a:ext cx="3420000" cy="8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Product Service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CRUD san pham, tim kiem, bo loc</a:t>
            </a:r>
          </a:p>
        </p:txBody>
      </p:sp>
      <p:sp>
        <p:nvSpPr>
          <p:cNvPr id="100090" name="I3Bg"/>
          <p:cNvSpPr/>
          <p:nvPr/>
        </p:nvSpPr>
        <p:spPr>
          <a:xfrm xmlns:a="http://schemas.openxmlformats.org/drawingml/2006/main">
            <a:off x="8233200" y="144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I3T"/>
          <p:cNvSpPr txBox="1"/>
          <p:nvPr/>
        </p:nvSpPr>
        <p:spPr>
          <a:xfrm xmlns:a="http://schemas.openxmlformats.org/drawingml/2006/main">
            <a:off x="8233200" y="154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3 (4 tuan)</a:t>
            </a:r>
          </a:p>
        </p:txBody>
      </p:sp>
      <p:sp>
        <p:nvSpPr>
          <p:cNvPr id="100092" name="I3B"/>
          <p:cNvSpPr txBox="1"/>
          <p:nvPr/>
        </p:nvSpPr>
        <p:spPr>
          <a:xfrm xmlns:a="http://schemas.openxmlformats.org/drawingml/2006/main">
            <a:off x="8233200" y="1980000"/>
            <a:ext cx="3420000" cy="8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Cart &amp; Order Service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Gio hang, dat hang, trang thai don</a:t>
            </a:r>
          </a:p>
        </p:txBody>
      </p:sp>
      <p:sp>
        <p:nvSpPr>
          <p:cNvPr id="100093" name="I4Bg"/>
          <p:cNvSpPr/>
          <p:nvPr/>
        </p:nvSpPr>
        <p:spPr>
          <a:xfrm xmlns:a="http://schemas.openxmlformats.org/drawingml/2006/main">
            <a:off x="540000" y="342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I4T"/>
          <p:cNvSpPr txBox="1"/>
          <p:nvPr/>
        </p:nvSpPr>
        <p:spPr>
          <a:xfrm xmlns:a="http://schemas.openxmlformats.org/drawingml/2006/main">
            <a:off x="540000" y="352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4 (4 tuan)</a:t>
            </a:r>
          </a:p>
        </p:txBody>
      </p:sp>
      <p:sp>
        <p:nvSpPr>
          <p:cNvPr id="100095" name="I4B"/>
          <p:cNvSpPr txBox="1"/>
          <p:nvPr/>
        </p:nvSpPr>
        <p:spPr>
          <a:xfrm xmlns:a="http://schemas.openxmlformats.org/drawingml/2006/main">
            <a:off x="540000" y="3960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Payment Service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VNPay, MoMo, COD, hoan tien</a:t>
            </a:r>
          </a:p>
        </p:txBody>
      </p:sp>
      <p:sp>
        <p:nvSpPr>
          <p:cNvPr id="100096" name="I5Bg"/>
          <p:cNvSpPr/>
          <p:nvPr/>
        </p:nvSpPr>
        <p:spPr>
          <a:xfrm xmlns:a="http://schemas.openxmlformats.org/drawingml/2006/main">
            <a:off x="4392000" y="342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I5T"/>
          <p:cNvSpPr txBox="1"/>
          <p:nvPr/>
        </p:nvSpPr>
        <p:spPr>
          <a:xfrm xmlns:a="http://schemas.openxmlformats.org/drawingml/2006/main">
            <a:off x="4392000" y="352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5 (3 tuan)</a:t>
            </a:r>
          </a:p>
        </p:txBody>
      </p:sp>
      <p:sp>
        <p:nvSpPr>
          <p:cNvPr id="100098" name="I5B"/>
          <p:cNvSpPr txBox="1"/>
          <p:nvPr/>
        </p:nvSpPr>
        <p:spPr>
          <a:xfrm xmlns:a="http://schemas.openxmlformats.org/drawingml/2006/main">
            <a:off x="4392000" y="3960000"/>
            <a:ext cx="3420000" cy="8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Notification + Admin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Email, SMS, thong ke, quan tri</a:t>
            </a:r>
          </a:p>
        </p:txBody>
      </p:sp>
      <p:sp>
        <p:nvSpPr>
          <p:cNvPr id="100099" name="I6Bg"/>
          <p:cNvSpPr/>
          <p:nvPr/>
        </p:nvSpPr>
        <p:spPr>
          <a:xfrm xmlns:a="http://schemas.openxmlformats.org/drawingml/2006/main">
            <a:off x="8233200" y="3420000"/>
            <a:ext cx="342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I6T"/>
          <p:cNvSpPr txBox="1"/>
          <p:nvPr/>
        </p:nvSpPr>
        <p:spPr>
          <a:xfrm xmlns:a="http://schemas.openxmlformats.org/drawingml/2006/main">
            <a:off x="8233200" y="3528000"/>
            <a:ext cx="34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5A82"/>
                </a:solidFill>
                <a:latin typeface="Georgia"/>
                <a:ea typeface="Georgia"/>
              </a:rPr>
              <a:t>Iteration 6 (3 tuan)</a:t>
            </a:r>
          </a:p>
        </p:txBody>
      </p:sp>
      <p:sp>
        <p:nvSpPr>
          <p:cNvPr id="100101" name="I6B"/>
          <p:cNvSpPr txBox="1"/>
          <p:nvPr/>
        </p:nvSpPr>
        <p:spPr>
          <a:xfrm xmlns:a="http://schemas.openxmlformats.org/drawingml/2006/main">
            <a:off x="8233200" y="3960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Review, Wishlist, Coupon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Danh gia, khuyen mai</a:t>
            </a:r>
          </a:p>
        </p:txBody>
      </p:sp>
      <p:sp>
        <p:nvSpPr>
          <p:cNvPr id="100102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3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Diem Manh Cua RUP</a:t>
            </a:r>
          </a:p>
        </p:txBody>
      </p:sp>
      <p:sp>
        <p:nvSpPr>
          <p:cNvPr id="100104" name="S1Bg"/>
          <p:cNvSpPr/>
          <p:nvPr/>
        </p:nvSpPr>
        <p:spPr>
          <a:xfrm xmlns:a="http://schemas.openxmlformats.org/drawingml/2006/main">
            <a:off x="540000" y="144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5" name="S1T"/>
          <p:cNvSpPr txBox="1"/>
          <p:nvPr/>
        </p:nvSpPr>
        <p:spPr>
          <a:xfrm xmlns:a="http://schemas.openxmlformats.org/drawingml/2006/main">
            <a:off x="540000" y="162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65A82"/>
                </a:solidFill>
                <a:latin typeface="Georgia"/>
                <a:ea typeface="Georgia"/>
              </a:rPr>
              <a:t>Phat trien lap &amp; tang dan</a:t>
            </a:r>
          </a:p>
        </p:txBody>
      </p:sp>
      <p:sp>
        <p:nvSpPr>
          <p:cNvPr id="100106" name="S1B"/>
          <p:cNvSpPr txBox="1"/>
          <p:nvPr/>
        </p:nvSpPr>
        <p:spPr>
          <a:xfrm xmlns:a="http://schemas.openxmlformats.org/drawingml/2006/main">
            <a:off x="540000" y="208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Giam rui ro so voi Waterfall, phat hien loi som qua tung iteration</a:t>
            </a:r>
          </a:p>
        </p:txBody>
      </p:sp>
      <p:sp>
        <p:nvSpPr>
          <p:cNvPr id="100107" name="S2Bg"/>
          <p:cNvSpPr/>
          <p:nvPr/>
        </p:nvSpPr>
        <p:spPr>
          <a:xfrm xmlns:a="http://schemas.openxmlformats.org/drawingml/2006/main">
            <a:off x="6274800" y="144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8" name="S2T"/>
          <p:cNvSpPr txBox="1"/>
          <p:nvPr/>
        </p:nvSpPr>
        <p:spPr>
          <a:xfrm xmlns:a="http://schemas.openxmlformats.org/drawingml/2006/main">
            <a:off x="6274800" y="162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65A82"/>
                </a:solidFill>
                <a:latin typeface="Georgia"/>
                <a:ea typeface="Georgia"/>
              </a:rPr>
              <a:t>Quan ly rui ro tot</a:t>
            </a:r>
          </a:p>
        </p:txBody>
      </p:sp>
      <p:sp>
        <p:nvSpPr>
          <p:cNvPr id="100109" name="S2B"/>
          <p:cNvSpPr txBox="1"/>
          <p:nvPr/>
        </p:nvSpPr>
        <p:spPr>
          <a:xfrm xmlns:a="http://schemas.openxmlformats.org/drawingml/2006/main">
            <a:off x="6274800" y="208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Rui ro duoc xac dinh va xu ly tu som, truoc khi coding nhieu</a:t>
            </a:r>
          </a:p>
        </p:txBody>
      </p:sp>
      <p:sp>
        <p:nvSpPr>
          <p:cNvPr id="100110" name="S3Bg"/>
          <p:cNvSpPr/>
          <p:nvPr/>
        </p:nvSpPr>
        <p:spPr>
          <a:xfrm xmlns:a="http://schemas.openxmlformats.org/drawingml/2006/main">
            <a:off x="540000" y="342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S3T"/>
          <p:cNvSpPr txBox="1"/>
          <p:nvPr/>
        </p:nvSpPr>
        <p:spPr>
          <a:xfrm xmlns:a="http://schemas.openxmlformats.org/drawingml/2006/main">
            <a:off x="540000" y="360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65A82"/>
                </a:solidFill>
                <a:latin typeface="Georgia"/>
                <a:ea typeface="Georgia"/>
              </a:rPr>
              <a:t>Dieu khien boi Use-Case</a:t>
            </a:r>
          </a:p>
        </p:txBody>
      </p:sp>
      <p:sp>
        <p:nvSpPr>
          <p:cNvPr id="100112" name="S3B"/>
          <p:cNvSpPr txBox="1"/>
          <p:nvPr/>
        </p:nvSpPr>
        <p:spPr>
          <a:xfrm xmlns:a="http://schemas.openxmlformats.org/drawingml/2006/main">
            <a:off x="540000" y="406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Dam bao phan mem dap ung dung nhu cau nghiep vu nguoi dung</a:t>
            </a:r>
          </a:p>
        </p:txBody>
      </p:sp>
      <p:sp>
        <p:nvSpPr>
          <p:cNvPr id="100113" name="S4Bg"/>
          <p:cNvSpPr/>
          <p:nvPr/>
        </p:nvSpPr>
        <p:spPr>
          <a:xfrm xmlns:a="http://schemas.openxmlformats.org/drawingml/2006/main">
            <a:off x="6274800" y="342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4" name="S4T"/>
          <p:cNvSpPr txBox="1"/>
          <p:nvPr/>
        </p:nvSpPr>
        <p:spPr>
          <a:xfrm xmlns:a="http://schemas.openxmlformats.org/drawingml/2006/main">
            <a:off x="6274800" y="360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065A82"/>
                </a:solidFill>
                <a:latin typeface="Georgia"/>
                <a:ea typeface="Georgia"/>
              </a:rPr>
              <a:t>Kien truc trung tam</a:t>
            </a:r>
          </a:p>
        </p:txBody>
      </p:sp>
      <p:sp>
        <p:nvSpPr>
          <p:cNvPr id="100115" name="S4B"/>
          <p:cNvSpPr txBox="1"/>
          <p:nvPr/>
        </p:nvSpPr>
        <p:spPr>
          <a:xfrm xmlns:a="http://schemas.openxmlformats.org/drawingml/2006/main">
            <a:off x="6274800" y="406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Xay dung kien truc vung chac tu som (pha Elaboration)</a:t>
            </a:r>
          </a:p>
        </p:txBody>
      </p:sp>
      <p:sp>
        <p:nvSpPr>
          <p:cNvPr id="100116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7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Georgia"/>
                <a:ea typeface="Georgia"/>
              </a:rPr>
              <a:t>Diem Yeu Cua RUP</a:t>
            </a:r>
          </a:p>
        </p:txBody>
      </p:sp>
      <p:sp>
        <p:nvSpPr>
          <p:cNvPr id="100118" name="W1Bg"/>
          <p:cNvSpPr/>
          <p:nvPr/>
        </p:nvSpPr>
        <p:spPr>
          <a:xfrm xmlns:a="http://schemas.openxmlformats.org/drawingml/2006/main">
            <a:off x="540000" y="144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9" name="W1T"/>
          <p:cNvSpPr txBox="1"/>
          <p:nvPr/>
        </p:nvSpPr>
        <p:spPr>
          <a:xfrm xmlns:a="http://schemas.openxmlformats.org/drawingml/2006/main">
            <a:off x="540000" y="162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Georgia"/>
                <a:ea typeface="Georgia"/>
              </a:rPr>
              <a:t>Phuc tap &amp; nang ne</a:t>
            </a:r>
          </a:p>
        </p:txBody>
      </p:sp>
      <p:sp>
        <p:nvSpPr>
          <p:cNvPr id="100120" name="W1B"/>
          <p:cNvSpPr txBox="1"/>
          <p:nvPr/>
        </p:nvSpPr>
        <p:spPr>
          <a:xfrm xmlns:a="http://schemas.openxmlformats.org/drawingml/2006/main">
            <a:off x="540000" y="208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Quy trinh do so voi nhieu artifact, role, discipline</a:t>
            </a:r>
          </a:p>
        </p:txBody>
      </p:sp>
      <p:sp>
        <p:nvSpPr>
          <p:cNvPr id="100121" name="W2Bg"/>
          <p:cNvSpPr/>
          <p:nvPr/>
        </p:nvSpPr>
        <p:spPr>
          <a:xfrm xmlns:a="http://schemas.openxmlformats.org/drawingml/2006/main">
            <a:off x="6274800" y="144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2" name="W2T"/>
          <p:cNvSpPr txBox="1"/>
          <p:nvPr/>
        </p:nvSpPr>
        <p:spPr>
          <a:xfrm xmlns:a="http://schemas.openxmlformats.org/drawingml/2006/main">
            <a:off x="6274800" y="162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Georgia"/>
                <a:ea typeface="Georgia"/>
              </a:rPr>
              <a:t>Chi phi cao</a:t>
            </a:r>
          </a:p>
        </p:txBody>
      </p:sp>
      <p:sp>
        <p:nvSpPr>
          <p:cNvPr id="100123" name="W2B"/>
          <p:cNvSpPr txBox="1"/>
          <p:nvPr/>
        </p:nvSpPr>
        <p:spPr>
          <a:xfrm xmlns:a="http://schemas.openxmlformats.org/drawingml/2006/main">
            <a:off x="6274800" y="208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Nhieu tai lieu, nhieu vai tro, tool ho tro thuong ton phi</a:t>
            </a:r>
          </a:p>
        </p:txBody>
      </p:sp>
      <p:sp>
        <p:nvSpPr>
          <p:cNvPr id="100124" name="W3Bg"/>
          <p:cNvSpPr/>
          <p:nvPr/>
        </p:nvSpPr>
        <p:spPr>
          <a:xfrm xmlns:a="http://schemas.openxmlformats.org/drawingml/2006/main">
            <a:off x="540000" y="342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5" name="W3T"/>
          <p:cNvSpPr txBox="1"/>
          <p:nvPr/>
        </p:nvSpPr>
        <p:spPr>
          <a:xfrm xmlns:a="http://schemas.openxmlformats.org/drawingml/2006/main">
            <a:off x="540000" y="360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Georgia"/>
                <a:ea typeface="Georgia"/>
              </a:rPr>
              <a:t>Doi hoi kinh nghiem</a:t>
            </a:r>
          </a:p>
        </p:txBody>
      </p:sp>
      <p:sp>
        <p:nvSpPr>
          <p:cNvPr id="100126" name="W3B"/>
          <p:cNvSpPr txBox="1"/>
          <p:nvPr/>
        </p:nvSpPr>
        <p:spPr>
          <a:xfrm xmlns:a="http://schemas.openxmlformats.org/drawingml/2006/main">
            <a:off x="540000" y="406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Team can co kinh nghiem RUP va UML, neu khong se ap dung sai</a:t>
            </a:r>
          </a:p>
        </p:txBody>
      </p:sp>
      <p:sp>
        <p:nvSpPr>
          <p:cNvPr id="100127" name="W4Bg"/>
          <p:cNvSpPr/>
          <p:nvPr/>
        </p:nvSpPr>
        <p:spPr>
          <a:xfrm xmlns:a="http://schemas.openxmlformats.org/drawingml/2006/main">
            <a:off x="6274800" y="3420000"/>
            <a:ext cx="53784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W4T"/>
          <p:cNvSpPr txBox="1"/>
          <p:nvPr/>
        </p:nvSpPr>
        <p:spPr>
          <a:xfrm xmlns:a="http://schemas.openxmlformats.org/drawingml/2006/main">
            <a:off x="6274800" y="3600000"/>
            <a:ext cx="53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Georgia"/>
                <a:ea typeface="Georgia"/>
              </a:rPr>
              <a:t>Khong phu hop du an nho</a:t>
            </a:r>
          </a:p>
        </p:txBody>
      </p:sp>
      <p:sp>
        <p:nvSpPr>
          <p:cNvPr id="100129" name="W4B"/>
          <p:cNvSpPr txBox="1"/>
          <p:nvPr/>
        </p:nvSpPr>
        <p:spPr>
          <a:xfrm xmlns:a="http://schemas.openxmlformats.org/drawingml/2006/main">
            <a:off x="6274800" y="4068000"/>
            <a:ext cx="53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Du an duoi 5 nguoi, RUP qua overkill, nen dung Agile/Scrum</a:t>
            </a:r>
          </a:p>
        </p:txBody>
      </p:sp>
      <p:sp>
        <p:nvSpPr>
          <p:cNvPr id="100130" name="BottomBand"/>
          <p:cNvSpPr/>
          <p:nvPr/>
        </p:nvSpPr>
        <p:spPr>
          <a:xfrm xmlns:a="http://schemas.openxmlformats.org/drawingml/2006/main">
            <a:off x="0" y="6678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5A82"/>
        </a:solidFill>
      </p:bgPr>
    </p:bg>
    <p:spTree>
      <p:nvGrpSpPr>
        <p:cNvPr id="1" name=""/>
        <p:cNvGrpSpPr/>
        <p:nvPr/>
      </p:nvGrpSpPr>
      <p:grpSpPr/>
      <p:sp>
        <p:nvSpPr>
          <p:cNvPr id="100131" name="Title"/>
          <p:cNvSpPr txBox="1"/>
          <p:nvPr/>
        </p:nvSpPr>
        <p:spPr>
          <a:xfrm xmlns:a="http://schemas.openxmlformats.org/drawingml/2006/main">
            <a:off x="720000" y="180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Cam On</a:t>
            </a:r>
          </a:p>
        </p:txBody>
      </p:sp>
      <p:sp>
        <p:nvSpPr>
          <p:cNvPr id="100132" name="Sub"/>
          <p:cNvSpPr txBox="1"/>
          <p:nvPr/>
        </p:nvSpPr>
        <p:spPr>
          <a:xfrm xmlns:a="http://schemas.openxmlformats.org/drawingml/2006/main">
            <a:off x="720000" y="32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1C7293"/>
                </a:solidFill>
                <a:latin typeface="Calibri"/>
                <a:ea typeface="Calibri"/>
              </a:rPr>
              <a:t>Nhom san sang tra loi cau hoi</a:t>
            </a:r>
          </a:p>
        </p:txBody>
      </p:sp>
      <p:sp>
        <p:nvSpPr>
          <p:cNvPr id="100133" name="Ref"/>
          <p:cNvSpPr txBox="1"/>
          <p:nvPr/>
        </p:nvSpPr>
        <p:spPr>
          <a:xfrm xmlns:a="http://schemas.openxmlformats.org/drawingml/2006/main">
            <a:off x="720000" y="540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Tai lieu tham khao: Kruchten (2003), Jacobson et al. (1999), OpenUP - Eclipse Foundation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2026-09-22T11:04:19Z</dcterms:created>
  <cp:lastModifiedBy>OfficeCLI</cp:lastModifiedBy>
  <dcterms:modified xsi:type="dcterms:W3CDTF">2026-09-22T11:04:19Z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2026-09-22T11:10:18Z</vt:lpwstr>
  </op:property>
</op:Properties>
</file>